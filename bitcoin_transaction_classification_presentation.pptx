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 snapToGrid="0">
      <p:cViewPr>
        <p:scale>
          <a:sx n="185" d="100"/>
          <a:sy n="185" d="100"/>
        </p:scale>
        <p:origin x="-4848" y="-3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Transactions</c:v>
          </c:tx>
          <c:spPr>
            <a:solidFill>
              <a:srgbClr val="0F766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91C1C"/>
              </a:solidFill>
            </c:spPr>
            <c:extLst>
              <c:ext xmlns:c16="http://schemas.microsoft.com/office/drawing/2014/chart" uri="{C3380CC4-5D6E-409C-BE32-E72D297353CC}">
                <c16:uniqueId val="{00000001-DD58-3141-9FC0-F31CEB87DDE6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DD58-3141-9FC0-F31CEB87DDE6}"/>
              </c:ext>
            </c:extLst>
          </c:dPt>
          <c:dPt>
            <c:idx val="2"/>
            <c:invertIfNegative val="1"/>
            <c:bubble3D val="0"/>
            <c:spPr>
              <a:solidFill>
                <a:srgbClr val="9AA3AD"/>
              </a:solidFill>
            </c:spPr>
            <c:extLst>
              <c:ext xmlns:c16="http://schemas.microsoft.com/office/drawing/2014/chart" uri="{C3380CC4-5D6E-409C-BE32-E72D297353CC}">
                <c16:uniqueId val="{00000005-DD58-3141-9FC0-F31CEB87DDE6}"/>
              </c:ext>
            </c:extLst>
          </c:dPt>
          <c:dLbls>
            <c:delete val="1"/>
          </c:dLbls>
          <c:cat>
            <c:strLit>
              <c:ptCount val="3"/>
              <c:pt idx="0">
                <c:v>Illicit</c:v>
              </c:pt>
              <c:pt idx="1">
                <c:v>Licit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4545</c:v>
              </c:pt>
              <c:pt idx="1">
                <c:v>42019</c:v>
              </c:pt>
              <c:pt idx="2">
                <c:v>157205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D58-3141-9FC0-F31CEB87DD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 b="1">
                <a:solidFill>
                  <a:srgbClr val="17203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A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64748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Logistic Regression</c:v>
          </c:tx>
          <c:spPr>
            <a:solidFill>
              <a:srgbClr val="64748B"/>
            </a:solidFill>
          </c:spPr>
          <c:invertIfNegative val="1"/>
          <c:cat>
            <c:strLit>
              <c:ptCount val="4"/>
              <c:pt idx="0">
                <c:v>local</c:v>
              </c:pt>
              <c:pt idx="1">
                <c:v>all</c:v>
              </c:pt>
              <c:pt idx="2">
                <c:v>local + GCN</c:v>
              </c:pt>
              <c:pt idx="3">
                <c:v>all + GCN</c:v>
              </c:pt>
            </c:strLit>
          </c:cat>
          <c:val>
            <c:numLit>
              <c:formatCode>0.0</c:formatCode>
              <c:ptCount val="4"/>
              <c:pt idx="0">
                <c:v>0.70457499999999995</c:v>
              </c:pt>
              <c:pt idx="1">
                <c:v>0.55805199999999999</c:v>
              </c:pt>
              <c:pt idx="2">
                <c:v>0.58529399999999998</c:v>
              </c:pt>
              <c:pt idx="3">
                <c:v>0.50312500000000004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AC3-6040-8A9D-9D78EFCE7D2E}"/>
            </c:ext>
          </c:extLst>
        </c:ser>
        <c:ser>
          <c:idx val="1"/>
          <c:order val="1"/>
          <c:tx>
            <c:v>Random Forest</c:v>
          </c:tx>
          <c:spPr>
            <a:solidFill>
              <a:srgbClr val="0F766E"/>
            </a:solidFill>
          </c:spPr>
          <c:invertIfNegative val="1"/>
          <c:cat>
            <c:strLit>
              <c:ptCount val="4"/>
              <c:pt idx="0">
                <c:v>local</c:v>
              </c:pt>
              <c:pt idx="1">
                <c:v>all</c:v>
              </c:pt>
              <c:pt idx="2">
                <c:v>local + GCN</c:v>
              </c:pt>
              <c:pt idx="3">
                <c:v>all + GCN</c:v>
              </c:pt>
            </c:strLit>
          </c:cat>
          <c:val>
            <c:numLit>
              <c:formatCode>0.0</c:formatCode>
              <c:ptCount val="4"/>
              <c:pt idx="0">
                <c:v>0.74604300000000001</c:v>
              </c:pt>
              <c:pt idx="1">
                <c:v>0.76708500000000002</c:v>
              </c:pt>
              <c:pt idx="2">
                <c:v>0.72702699999999998</c:v>
              </c:pt>
              <c:pt idx="3">
                <c:v>0.73033000000000003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AC3-6040-8A9D-9D78EFCE7D2E}"/>
            </c:ext>
          </c:extLst>
        </c:ser>
        <c:ser>
          <c:idx val="2"/>
          <c:order val="2"/>
          <c:tx>
            <c:v>XGBoost</c:v>
          </c:tx>
          <c:spPr>
            <a:solidFill>
              <a:srgbClr val="E45756"/>
            </a:solidFill>
          </c:spPr>
          <c:invertIfNegative val="1"/>
          <c:cat>
            <c:strLit>
              <c:ptCount val="4"/>
              <c:pt idx="0">
                <c:v>local</c:v>
              </c:pt>
              <c:pt idx="1">
                <c:v>all</c:v>
              </c:pt>
              <c:pt idx="2">
                <c:v>local + GCN</c:v>
              </c:pt>
              <c:pt idx="3">
                <c:v>all + GCN</c:v>
              </c:pt>
            </c:strLit>
          </c:cat>
          <c:val>
            <c:numLit>
              <c:formatCode>0.0</c:formatCode>
              <c:ptCount val="4"/>
              <c:pt idx="0">
                <c:v>0.73563199999999995</c:v>
              </c:pt>
              <c:pt idx="1">
                <c:v>0.77587399999999995</c:v>
              </c:pt>
              <c:pt idx="2">
                <c:v>0.70944499999999999</c:v>
              </c:pt>
              <c:pt idx="3">
                <c:v>0.70925099999999996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AC3-6040-8A9D-9D78EFCE7D2E}"/>
            </c:ext>
          </c:extLst>
        </c:ser>
        <c:ser>
          <c:idx val="3"/>
          <c:order val="3"/>
          <c:tx>
            <c:v>MLP</c:v>
          </c:tx>
          <c:spPr>
            <a:solidFill>
              <a:srgbClr val="F59E0B"/>
            </a:solidFill>
          </c:spPr>
          <c:invertIfNegative val="1"/>
          <c:cat>
            <c:strLit>
              <c:ptCount val="4"/>
              <c:pt idx="0">
                <c:v>local</c:v>
              </c:pt>
              <c:pt idx="1">
                <c:v>all</c:v>
              </c:pt>
              <c:pt idx="2">
                <c:v>local + GCN</c:v>
              </c:pt>
              <c:pt idx="3">
                <c:v>all + GCN</c:v>
              </c:pt>
            </c:strLit>
          </c:cat>
          <c:val>
            <c:numLit>
              <c:formatCode>0.0</c:formatCode>
              <c:ptCount val="4"/>
              <c:pt idx="0">
                <c:v>0.54603999999999997</c:v>
              </c:pt>
              <c:pt idx="1">
                <c:v>0.47533199999999998</c:v>
              </c:pt>
              <c:pt idx="2">
                <c:v>0.68616999999999995</c:v>
              </c:pt>
              <c:pt idx="3">
                <c:v>0.64076299999999997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1AC3-6040-8A9D-9D78EFCE7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 b="1">
                <a:solidFill>
                  <a:srgbClr val="17203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w="9525">
              <a:solidFill>
                <a:srgbClr val="E5EAF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900" b="1">
                    <a:solidFill>
                      <a:srgbClr val="64748B"/>
                    </a:solidFill>
                  </a:rPr>
                  <a:t>F1 illicit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 b="0">
                <a:solidFill>
                  <a:srgbClr val="64748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</c:spPr>
    </c:plotArea>
    <c:legend>
      <c:legendPos val="b"/>
      <c:overlay val="0"/>
      <c:txPr>
        <a:bodyPr anchorCtr="1"/>
        <a:lstStyle/>
        <a:p>
          <a:pPr>
            <a:defRPr sz="825" b="0">
              <a:solidFill>
                <a:srgbClr val="172033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CFBF914-AD62-485D-9D09-9BAAC8ED09D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BITCOIN TRANSACTION 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6DD95-88B1-4B95-B058-7E6DF0A0D74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381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Detecting illicit Bitcoin transactions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E50E3-3F92-4C1C-A6D6-71875FE7102D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581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project combines the Elliptic transaction dataset, temporal validation, graph exploration, and supervised models to classify transactions as licit or illicit.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EA9AD2-0DD8-456F-B397-10AA5F3C101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12573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F0A98B-CF87-4819-A840-EEC91BE8F852}"/>
              </a:ext>
            </a:extLst>
          </p:cNvPr>
          <p:cNvSpPr>
            <a:spLocks noGrp="1"/>
          </p:cNvSpPr>
          <p:nvPr/>
        </p:nvSpPr>
        <p:spPr>
          <a:xfrm>
            <a:off x="7239000" y="742950"/>
            <a:ext cx="4000500" cy="44767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2DE2987-A45A-4FCC-A3EC-8EE434031D5C}"/>
              </a:ext>
            </a:extLst>
          </p:cNvPr>
          <p:cNvSpPr>
            <a:spLocks noGrp="1"/>
          </p:cNvSpPr>
          <p:nvPr/>
        </p:nvSpPr>
        <p:spPr>
          <a:xfrm flipV="1">
            <a:off x="8039100" y="1390650"/>
            <a:ext cx="1485900" cy="209550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DC99FE9-6BF3-42B7-9CCD-672F0225903F}"/>
              </a:ext>
            </a:extLst>
          </p:cNvPr>
          <p:cNvSpPr>
            <a:spLocks noGrp="1"/>
          </p:cNvSpPr>
          <p:nvPr/>
        </p:nvSpPr>
        <p:spPr>
          <a:xfrm>
            <a:off x="9582150" y="1314450"/>
            <a:ext cx="838200" cy="1038225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37631F7-F413-4D46-8498-A03B58846186}"/>
              </a:ext>
            </a:extLst>
          </p:cNvPr>
          <p:cNvSpPr>
            <a:spLocks noGrp="1"/>
          </p:cNvSpPr>
          <p:nvPr/>
        </p:nvSpPr>
        <p:spPr>
          <a:xfrm>
            <a:off x="8039100" y="1600200"/>
            <a:ext cx="742950" cy="1238250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7BCE809-5688-4D2B-A851-2E085307D08E}"/>
              </a:ext>
            </a:extLst>
          </p:cNvPr>
          <p:cNvSpPr>
            <a:spLocks noGrp="1"/>
          </p:cNvSpPr>
          <p:nvPr/>
        </p:nvSpPr>
        <p:spPr>
          <a:xfrm flipV="1">
            <a:off x="8782050" y="2381248"/>
            <a:ext cx="1600200" cy="457201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01876A6-EBC1-45FE-AFF7-3AE7A7AC018C}"/>
              </a:ext>
            </a:extLst>
          </p:cNvPr>
          <p:cNvSpPr>
            <a:spLocks noGrp="1"/>
          </p:cNvSpPr>
          <p:nvPr/>
        </p:nvSpPr>
        <p:spPr>
          <a:xfrm>
            <a:off x="8782050" y="2838450"/>
            <a:ext cx="1028700" cy="933450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FEC5F50-DE86-49BC-928F-8DC761D841C9}"/>
              </a:ext>
            </a:extLst>
          </p:cNvPr>
          <p:cNvSpPr>
            <a:spLocks noGrp="1"/>
          </p:cNvSpPr>
          <p:nvPr/>
        </p:nvSpPr>
        <p:spPr>
          <a:xfrm flipV="1">
            <a:off x="8096250" y="3790949"/>
            <a:ext cx="1714500" cy="419101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D385469-1326-4605-810E-C73569E3B0C8}"/>
              </a:ext>
            </a:extLst>
          </p:cNvPr>
          <p:cNvSpPr>
            <a:spLocks noGrp="1"/>
          </p:cNvSpPr>
          <p:nvPr/>
        </p:nvSpPr>
        <p:spPr>
          <a:xfrm>
            <a:off x="8039100" y="1600200"/>
            <a:ext cx="2381250" cy="752475"/>
          </a:xfrm>
          <a:prstGeom prst="line">
            <a:avLst/>
          </a:prstGeom>
          <a:noFill/>
          <a:ln w="19050">
            <a:solidFill>
              <a:srgbClr val="CAD3D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B1FB19-8815-42DD-8196-C945D9D331DC}"/>
              </a:ext>
            </a:extLst>
          </p:cNvPr>
          <p:cNvSpPr>
            <a:spLocks noGrp="1"/>
          </p:cNvSpPr>
          <p:nvPr/>
        </p:nvSpPr>
        <p:spPr>
          <a:xfrm>
            <a:off x="7886700" y="1447800"/>
            <a:ext cx="304800" cy="304800"/>
          </a:xfrm>
          <a:prstGeom prst="ellipse">
            <a:avLst/>
          </a:prstGeom>
          <a:solidFill>
            <a:srgbClr val="F59E0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3AE0B8-BFF3-4800-A7C9-F2F89802C69A}"/>
              </a:ext>
            </a:extLst>
          </p:cNvPr>
          <p:cNvSpPr>
            <a:spLocks noGrp="1"/>
          </p:cNvSpPr>
          <p:nvPr/>
        </p:nvSpPr>
        <p:spPr>
          <a:xfrm>
            <a:off x="9467850" y="1200150"/>
            <a:ext cx="228600" cy="228600"/>
          </a:xfrm>
          <a:prstGeom prst="ellipse">
            <a:avLst/>
          </a:prstGeom>
          <a:solidFill>
            <a:srgbClr val="0F766E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4A9D4B-D2AB-4D5F-AA70-4E17D83716D6}"/>
              </a:ext>
            </a:extLst>
          </p:cNvPr>
          <p:cNvSpPr>
            <a:spLocks noGrp="1"/>
          </p:cNvSpPr>
          <p:nvPr/>
        </p:nvSpPr>
        <p:spPr>
          <a:xfrm>
            <a:off x="10277475" y="2209800"/>
            <a:ext cx="285750" cy="285750"/>
          </a:xfrm>
          <a:prstGeom prst="ellipse">
            <a:avLst/>
          </a:prstGeom>
          <a:solidFill>
            <a:srgbClr val="B91C1C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5424EE-CFA2-4329-A7E9-0D1AE5A13C6E}"/>
              </a:ext>
            </a:extLst>
          </p:cNvPr>
          <p:cNvSpPr>
            <a:spLocks noGrp="1"/>
          </p:cNvSpPr>
          <p:nvPr/>
        </p:nvSpPr>
        <p:spPr>
          <a:xfrm>
            <a:off x="8677275" y="2733675"/>
            <a:ext cx="209550" cy="209550"/>
          </a:xfrm>
          <a:prstGeom prst="ellipse">
            <a:avLst/>
          </a:prstGeom>
          <a:solidFill>
            <a:srgbClr val="2E7D3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FC9357-6A07-4175-BB3D-7514C075C7BB}"/>
              </a:ext>
            </a:extLst>
          </p:cNvPr>
          <p:cNvSpPr>
            <a:spLocks noGrp="1"/>
          </p:cNvSpPr>
          <p:nvPr/>
        </p:nvSpPr>
        <p:spPr>
          <a:xfrm>
            <a:off x="9686925" y="3648075"/>
            <a:ext cx="247650" cy="247650"/>
          </a:xfrm>
          <a:prstGeom prst="ellipse">
            <a:avLst/>
          </a:prstGeom>
          <a:solidFill>
            <a:srgbClr val="6D5BD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7DC9AD-6DC4-4EE6-AEF0-A6D82CE18ED2}"/>
              </a:ext>
            </a:extLst>
          </p:cNvPr>
          <p:cNvSpPr>
            <a:spLocks noGrp="1"/>
          </p:cNvSpPr>
          <p:nvPr/>
        </p:nvSpPr>
        <p:spPr>
          <a:xfrm>
            <a:off x="8010525" y="4124325"/>
            <a:ext cx="171450" cy="171450"/>
          </a:xfrm>
          <a:prstGeom prst="ellipse">
            <a:avLst/>
          </a:prstGeom>
          <a:solidFill>
            <a:srgbClr val="64748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637781-01C2-483B-B390-2C805D7D43FB}"/>
              </a:ext>
            </a:extLst>
          </p:cNvPr>
          <p:cNvSpPr>
            <a:spLocks noGrp="1"/>
          </p:cNvSpPr>
          <p:nvPr/>
        </p:nvSpPr>
        <p:spPr>
          <a:xfrm>
            <a:off x="7620000" y="4476894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dirty="0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Transaction graph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34C943-4F14-4A21-94AB-ACB1F641A79D}"/>
              </a:ext>
            </a:extLst>
          </p:cNvPr>
          <p:cNvSpPr>
            <a:spLocks noGrp="1"/>
          </p:cNvSpPr>
          <p:nvPr/>
        </p:nvSpPr>
        <p:spPr>
          <a:xfrm>
            <a:off x="7620000" y="4745956"/>
            <a:ext cx="304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Nodes are transactions, edges are payment flows, labels mark illicit / licit / unknown behavior.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C557D3C-7B55-4EFA-AF0A-FB3FD1CF8798}"/>
              </a:ext>
            </a:extLst>
          </p:cNvPr>
          <p:cNvSpPr>
            <a:spLocks noGrp="1"/>
          </p:cNvSpPr>
          <p:nvPr/>
        </p:nvSpPr>
        <p:spPr>
          <a:xfrm>
            <a:off x="628650" y="4810125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DEDD45-8BB2-4BEB-B154-F4EBA4F00593}"/>
              </a:ext>
            </a:extLst>
          </p:cNvPr>
          <p:cNvSpPr>
            <a:spLocks noGrp="1"/>
          </p:cNvSpPr>
          <p:nvPr/>
        </p:nvSpPr>
        <p:spPr>
          <a:xfrm>
            <a:off x="723900" y="498157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0BD54E78-B6FB-4F64-A597-1339E1DC5291}"/>
              </a:ext>
            </a:extLst>
          </p:cNvPr>
          <p:cNvSpPr>
            <a:spLocks noGrp="1"/>
          </p:cNvSpPr>
          <p:nvPr/>
        </p:nvSpPr>
        <p:spPr>
          <a:xfrm>
            <a:off x="1638300" y="4991100"/>
            <a:ext cx="323850" cy="1905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8E04533-EBB2-4069-8EA3-B27C39A685F7}"/>
              </a:ext>
            </a:extLst>
          </p:cNvPr>
          <p:cNvSpPr>
            <a:spLocks noGrp="1"/>
          </p:cNvSpPr>
          <p:nvPr/>
        </p:nvSpPr>
        <p:spPr>
          <a:xfrm>
            <a:off x="1847850" y="4810125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E4A634-B19C-4303-9826-85D1A82148E1}"/>
              </a:ext>
            </a:extLst>
          </p:cNvPr>
          <p:cNvSpPr>
            <a:spLocks noGrp="1"/>
          </p:cNvSpPr>
          <p:nvPr/>
        </p:nvSpPr>
        <p:spPr>
          <a:xfrm>
            <a:off x="1943100" y="498157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EDA &amp; graph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95EB5BC-EED5-4024-97F5-166F790701BC}"/>
              </a:ext>
            </a:extLst>
          </p:cNvPr>
          <p:cNvSpPr>
            <a:spLocks noGrp="1"/>
          </p:cNvSpPr>
          <p:nvPr/>
        </p:nvSpPr>
        <p:spPr>
          <a:xfrm>
            <a:off x="2857500" y="4991100"/>
            <a:ext cx="323850" cy="1905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3811F19-CF94-4A45-ABA3-F48A60C22DC3}"/>
              </a:ext>
            </a:extLst>
          </p:cNvPr>
          <p:cNvSpPr>
            <a:spLocks noGrp="1"/>
          </p:cNvSpPr>
          <p:nvPr/>
        </p:nvSpPr>
        <p:spPr>
          <a:xfrm>
            <a:off x="3067050" y="4810125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688921-D5E1-485F-85A9-DF8700BFCA27}"/>
              </a:ext>
            </a:extLst>
          </p:cNvPr>
          <p:cNvSpPr>
            <a:spLocks noGrp="1"/>
          </p:cNvSpPr>
          <p:nvPr/>
        </p:nvSpPr>
        <p:spPr>
          <a:xfrm>
            <a:off x="3162300" y="498157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Temporal split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744FD186-69BB-4835-A37A-D6545CA87C76}"/>
              </a:ext>
            </a:extLst>
          </p:cNvPr>
          <p:cNvSpPr>
            <a:spLocks noGrp="1"/>
          </p:cNvSpPr>
          <p:nvPr/>
        </p:nvSpPr>
        <p:spPr>
          <a:xfrm>
            <a:off x="4076700" y="4991100"/>
            <a:ext cx="323850" cy="1905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3ADBA2D-7D2A-419E-9AC0-C83AE176C239}"/>
              </a:ext>
            </a:extLst>
          </p:cNvPr>
          <p:cNvSpPr>
            <a:spLocks noGrp="1"/>
          </p:cNvSpPr>
          <p:nvPr/>
        </p:nvSpPr>
        <p:spPr>
          <a:xfrm>
            <a:off x="4286250" y="4810125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7E4FBB-666E-4E95-899C-3187421B2229}"/>
              </a:ext>
            </a:extLst>
          </p:cNvPr>
          <p:cNvSpPr>
            <a:spLocks noGrp="1"/>
          </p:cNvSpPr>
          <p:nvPr/>
        </p:nvSpPr>
        <p:spPr>
          <a:xfrm>
            <a:off x="4381500" y="498157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C41BE81-2FAB-493D-96A1-BF51CE663516}"/>
              </a:ext>
            </a:extLst>
          </p:cNvPr>
          <p:cNvSpPr>
            <a:spLocks noGrp="1"/>
          </p:cNvSpPr>
          <p:nvPr/>
        </p:nvSpPr>
        <p:spPr>
          <a:xfrm>
            <a:off x="5295900" y="4991100"/>
            <a:ext cx="323850" cy="1905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3546049-F784-4BAE-A727-EE78B93776FA}"/>
              </a:ext>
            </a:extLst>
          </p:cNvPr>
          <p:cNvSpPr>
            <a:spLocks noGrp="1"/>
          </p:cNvSpPr>
          <p:nvPr/>
        </p:nvSpPr>
        <p:spPr>
          <a:xfrm>
            <a:off x="5505450" y="4810125"/>
            <a:ext cx="990600" cy="552450"/>
          </a:xfrm>
          <a:prstGeom prst="roundRect">
            <a:avLst>
              <a:gd name="adj" fmla="val 13793"/>
            </a:avLst>
          </a:prstGeom>
          <a:solidFill>
            <a:srgbClr val="E6F4F1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0720F1-B044-429B-8C78-A561F0E04FA2}"/>
              </a:ext>
            </a:extLst>
          </p:cNvPr>
          <p:cNvSpPr>
            <a:spLocks noGrp="1"/>
          </p:cNvSpPr>
          <p:nvPr/>
        </p:nvSpPr>
        <p:spPr>
          <a:xfrm>
            <a:off x="5600700" y="498157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 scores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2EDBDC-A537-4CDF-B82A-25CBF2A5230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Elliptic dataset, project notebooks and generated analysis figures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00372C-CA00-4500-B904-46600A53207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946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0C57789-A26A-4D19-8B50-B782923361D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ELLIPTIC BITCOIN TRANSACTIONS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951CCF-F5AD-471B-AB68-BA2CE102E1E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Dataset at a Glance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4EE5B-0CB1-412C-AAFB-2EC1892AD205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A9A5EF-1D3A-4A56-8414-76CC56923D2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2286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45D2A-FC4C-4253-A3EC-3B11F94647C2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203,769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E53E8-5B18-45BA-B912-22292AB37CAE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transactions / nodes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2B2AB-A3E3-444F-B902-A2B63EA6BCCE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observed transactions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50C685-42F0-4C79-B430-D4A9B14F3340}"/>
              </a:ext>
            </a:extLst>
          </p:cNvPr>
          <p:cNvSpPr>
            <a:spLocks noGrp="1"/>
          </p:cNvSpPr>
          <p:nvPr/>
        </p:nvSpPr>
        <p:spPr>
          <a:xfrm>
            <a:off x="3086100" y="1524000"/>
            <a:ext cx="2286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2F1DA1-C78A-4C79-B52C-7F7D83EAF9F1}"/>
              </a:ext>
            </a:extLst>
          </p:cNvPr>
          <p:cNvSpPr>
            <a:spLocks noGrp="1"/>
          </p:cNvSpPr>
          <p:nvPr/>
        </p:nvSpPr>
        <p:spPr>
          <a:xfrm>
            <a:off x="3276600" y="169545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234,355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6D1DB-0EBF-4A32-8867-543BFD99DA45}"/>
              </a:ext>
            </a:extLst>
          </p:cNvPr>
          <p:cNvSpPr>
            <a:spLocks noGrp="1"/>
          </p:cNvSpPr>
          <p:nvPr/>
        </p:nvSpPr>
        <p:spPr>
          <a:xfrm>
            <a:off x="3276600" y="21717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directed edges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66AEB-918A-49D8-9510-04F5BFFEF149}"/>
              </a:ext>
            </a:extLst>
          </p:cNvPr>
          <p:cNvSpPr>
            <a:spLocks noGrp="1"/>
          </p:cNvSpPr>
          <p:nvPr/>
        </p:nvSpPr>
        <p:spPr>
          <a:xfrm>
            <a:off x="3276600" y="24003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transaction graph links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900E8C-EA26-44C7-BAED-B267D241C92E}"/>
              </a:ext>
            </a:extLst>
          </p:cNvPr>
          <p:cNvSpPr>
            <a:spLocks noGrp="1"/>
          </p:cNvSpPr>
          <p:nvPr/>
        </p:nvSpPr>
        <p:spPr>
          <a:xfrm>
            <a:off x="5562600" y="1524000"/>
            <a:ext cx="2000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F7D401-F054-40CE-A549-21C6A0D9E7BF}"/>
              </a:ext>
            </a:extLst>
          </p:cNvPr>
          <p:cNvSpPr>
            <a:spLocks noGrp="1"/>
          </p:cNvSpPr>
          <p:nvPr/>
        </p:nvSpPr>
        <p:spPr>
          <a:xfrm>
            <a:off x="5753100" y="16954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rPr>
              <a:t>49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7210C-4F4C-44AB-8B0C-3C7B6D3C9007}"/>
              </a:ext>
            </a:extLst>
          </p:cNvPr>
          <p:cNvSpPr>
            <a:spLocks noGrp="1"/>
          </p:cNvSpPr>
          <p:nvPr/>
        </p:nvSpPr>
        <p:spPr>
          <a:xfrm>
            <a:off x="5753100" y="2171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time steps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104A7-2363-4215-810B-C12A5AAED28F}"/>
              </a:ext>
            </a:extLst>
          </p:cNvPr>
          <p:cNvSpPr>
            <a:spLocks noGrp="1"/>
          </p:cNvSpPr>
          <p:nvPr/>
        </p:nvSpPr>
        <p:spPr>
          <a:xfrm>
            <a:off x="5753100" y="24003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temporal snapshots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022E0A-B946-4E4A-8AA6-4A17C330E833}"/>
              </a:ext>
            </a:extLst>
          </p:cNvPr>
          <p:cNvSpPr>
            <a:spLocks noGrp="1"/>
          </p:cNvSpPr>
          <p:nvPr/>
        </p:nvSpPr>
        <p:spPr>
          <a:xfrm>
            <a:off x="7753350" y="1524000"/>
            <a:ext cx="2286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AF7685-E587-4824-93A2-8B9D01425724}"/>
              </a:ext>
            </a:extLst>
          </p:cNvPr>
          <p:cNvSpPr>
            <a:spLocks noGrp="1"/>
          </p:cNvSpPr>
          <p:nvPr/>
        </p:nvSpPr>
        <p:spPr>
          <a:xfrm>
            <a:off x="7943850" y="169545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165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734543-C99D-4C43-8F20-152C734C1B41}"/>
              </a:ext>
            </a:extLst>
          </p:cNvPr>
          <p:cNvSpPr>
            <a:spLocks noGrp="1"/>
          </p:cNvSpPr>
          <p:nvPr/>
        </p:nvSpPr>
        <p:spPr>
          <a:xfrm>
            <a:off x="7943850" y="21717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27FE89-51EB-41D4-85E6-C9F58D4A0151}"/>
              </a:ext>
            </a:extLst>
          </p:cNvPr>
          <p:cNvSpPr>
            <a:spLocks noGrp="1"/>
          </p:cNvSpPr>
          <p:nvPr/>
        </p:nvSpPr>
        <p:spPr>
          <a:xfrm>
            <a:off x="7943850" y="24003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plus time step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692DC23-1940-490C-BDF0-31199668CF23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495300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8C2A93-1FC0-4163-B414-EF0CAD7B96AA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Class labels are sparse and imbalanced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="876300" y="3676650"/>
          <a:ext cx="4305300" cy="179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31C5A07-05D9-454F-8492-1F0B1A14008A}"/>
              </a:ext>
            </a:extLst>
          </p:cNvPr>
          <p:cNvSpPr>
            <a:spLocks noGrp="1"/>
          </p:cNvSpPr>
          <p:nvPr/>
        </p:nvSpPr>
        <p:spPr>
          <a:xfrm>
            <a:off x="6000750" y="3067050"/>
            <a:ext cx="495300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0D0CE7-00BA-4EA6-ABD4-46B32CE167E7}"/>
              </a:ext>
            </a:extLst>
          </p:cNvPr>
          <p:cNvSpPr>
            <a:spLocks noGrp="1"/>
          </p:cNvSpPr>
          <p:nvPr/>
        </p:nvSpPr>
        <p:spPr>
          <a:xfrm>
            <a:off x="6286500" y="3276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What makes the dataset challenging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560A3DE-DB70-4280-9130-284267C75B6C}"/>
              </a:ext>
            </a:extLst>
          </p:cNvPr>
          <p:cNvSpPr>
            <a:spLocks noGrp="1"/>
          </p:cNvSpPr>
          <p:nvPr/>
        </p:nvSpPr>
        <p:spPr>
          <a:xfrm>
            <a:off x="6343650" y="3857625"/>
            <a:ext cx="76200" cy="762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4E558-D7EE-49C6-AB3D-12C7EB39AD60}"/>
              </a:ext>
            </a:extLst>
          </p:cNvPr>
          <p:cNvSpPr>
            <a:spLocks noGrp="1"/>
          </p:cNvSpPr>
          <p:nvPr/>
        </p:nvSpPr>
        <p:spPr>
          <a:xfrm>
            <a:off x="6515100" y="37909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Only 22.9% of transactions are labeled; the remaining 77.1% are unknown.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7B9880-4707-4322-9543-21EAF020DF2C}"/>
              </a:ext>
            </a:extLst>
          </p:cNvPr>
          <p:cNvSpPr>
            <a:spLocks noGrp="1"/>
          </p:cNvSpPr>
          <p:nvPr/>
        </p:nvSpPr>
        <p:spPr>
          <a:xfrm>
            <a:off x="6343650" y="4486275"/>
            <a:ext cx="76200" cy="76200"/>
          </a:xfrm>
          <a:prstGeom prst="ellipse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DAEF2A-D66E-4D49-B58D-729586C2CDC9}"/>
              </a:ext>
            </a:extLst>
          </p:cNvPr>
          <p:cNvSpPr>
            <a:spLocks noGrp="1"/>
          </p:cNvSpPr>
          <p:nvPr/>
        </p:nvSpPr>
        <p:spPr>
          <a:xfrm>
            <a:off x="6515100" y="44196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Illicit transactions are 9.8% of labeled data, so recall and precision trade off strongly.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C8B0B8-DE79-46DB-BF16-0CB859235957}"/>
              </a:ext>
            </a:extLst>
          </p:cNvPr>
          <p:cNvSpPr>
            <a:spLocks noGrp="1"/>
          </p:cNvSpPr>
          <p:nvPr/>
        </p:nvSpPr>
        <p:spPr>
          <a:xfrm>
            <a:off x="6343650" y="511492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62C039-A8AF-4657-91F1-DCBE9FA98324}"/>
              </a:ext>
            </a:extLst>
          </p:cNvPr>
          <p:cNvSpPr>
            <a:spLocks noGrp="1"/>
          </p:cNvSpPr>
          <p:nvPr/>
        </p:nvSpPr>
        <p:spPr>
          <a:xfrm>
            <a:off x="6515100" y="50482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graph is sparse overall, but a small set of nodes has very high degree.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7AC59B-8F67-46B4-B307-B2932A30633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Elliptic dataset, project notebooks and generated analysis figures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0CD62A-0DC3-4DDF-BB5F-3CC5B6018F2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199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4DA6B5-CA4E-4FA1-B62B-6F4F75A1DEF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EDA SNAPSHOTS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F8551-C28C-4583-92B2-EE1A296CDF8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Exploratory Analysis Highlights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1F7EE5-AF8C-4544-8795-D961080FF4D9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B71DD5-B794-482C-9D5D-7A7D71DFDD48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3429000" cy="4095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419350"/>
            <a:ext cx="3200400" cy="2000250"/>
          </a:xfrm>
          <a:prstGeom prst="roundRect">
            <a:avLst>
              <a:gd name="adj" fmla="val 1786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3317A6-79D6-40D8-A3F3-1A28B807B8AF}"/>
              </a:ext>
            </a:extLst>
          </p:cNvPr>
          <p:cNvSpPr>
            <a:spLocks noGrp="1"/>
          </p:cNvSpPr>
          <p:nvPr/>
        </p:nvSpPr>
        <p:spPr>
          <a:xfrm>
            <a:off x="762000" y="5276850"/>
            <a:ext cx="3124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Unknown labels dominate the dataset; illicit cases are the minority class.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A99C97-4681-4E5E-AE40-00BF3DEA8A41}"/>
              </a:ext>
            </a:extLst>
          </p:cNvPr>
          <p:cNvSpPr>
            <a:spLocks noGrp="1"/>
          </p:cNvSpPr>
          <p:nvPr/>
        </p:nvSpPr>
        <p:spPr>
          <a:xfrm>
            <a:off x="4381500" y="1504950"/>
            <a:ext cx="3429000" cy="4095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95800" y="2752725"/>
            <a:ext cx="3200400" cy="1333500"/>
          </a:xfrm>
          <a:prstGeom prst="roundRect">
            <a:avLst>
              <a:gd name="adj" fmla="val 1786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984F27F-67BA-4994-B65C-F4D83469AE9D}"/>
              </a:ext>
            </a:extLst>
          </p:cNvPr>
          <p:cNvSpPr>
            <a:spLocks noGrp="1"/>
          </p:cNvSpPr>
          <p:nvPr/>
        </p:nvSpPr>
        <p:spPr>
          <a:xfrm>
            <a:off x="4533900" y="5276850"/>
            <a:ext cx="3124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Illicit prevalence changes over time, suggesting concept drift risk.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A44B7EE-0070-44F7-9CA6-00BBF5FB6DE8}"/>
              </a:ext>
            </a:extLst>
          </p:cNvPr>
          <p:cNvSpPr>
            <a:spLocks noGrp="1"/>
          </p:cNvSpPr>
          <p:nvPr/>
        </p:nvSpPr>
        <p:spPr>
          <a:xfrm>
            <a:off x="8153400" y="1504950"/>
            <a:ext cx="3429000" cy="4095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67700" y="2352675"/>
            <a:ext cx="3200400" cy="2133600"/>
          </a:xfrm>
          <a:prstGeom prst="roundRect">
            <a:avLst>
              <a:gd name="adj" fmla="val 1786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3DC3BF-E766-4C4D-BBA8-45F6574994F3}"/>
              </a:ext>
            </a:extLst>
          </p:cNvPr>
          <p:cNvSpPr>
            <a:spLocks noGrp="1"/>
          </p:cNvSpPr>
          <p:nvPr/>
        </p:nvSpPr>
        <p:spPr>
          <a:xfrm>
            <a:off x="8305800" y="5276850"/>
            <a:ext cx="3124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Local graph neighborhoods reveal mixed illicit, licit, and unknown context.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8079E-740E-42D3-802A-C55C55A393C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project EDA figures generated from the Elliptic 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5324DC-4B09-40B0-AA17-32D82F31A86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743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461E61-D86B-4B1B-AD34-5A1769C4AE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SPARSE NETWORK, LONG-TAIL DEGREE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3260D-798A-47F1-A270-0640FCD6D58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Graph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1DC9A-B824-4543-B634-9B876D2B5A5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B570CC-203E-47DD-B447-45F5F729C0A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3381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741034"/>
            <a:ext cx="3152775" cy="2251982"/>
          </a:xfrm>
          <a:prstGeom prst="roundRect">
            <a:avLst>
              <a:gd name="adj" fmla="val 2158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7D6997-4D72-4E08-A1E0-3B8729060BAA}"/>
              </a:ext>
            </a:extLst>
          </p:cNvPr>
          <p:cNvSpPr>
            <a:spLocks noGrp="1"/>
          </p:cNvSpPr>
          <p:nvPr/>
        </p:nvSpPr>
        <p:spPr>
          <a:xfrm>
            <a:off x="762000" y="4248150"/>
            <a:ext cx="3076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Most nodes have low degree, with a visible long-tail pattern.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C287BE-8ACC-44E4-8E9B-334DB786EFF2}"/>
              </a:ext>
            </a:extLst>
          </p:cNvPr>
          <p:cNvSpPr>
            <a:spLocks noGrp="1"/>
          </p:cNvSpPr>
          <p:nvPr/>
        </p:nvSpPr>
        <p:spPr>
          <a:xfrm>
            <a:off x="4333875" y="1428750"/>
            <a:ext cx="3381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48175" y="1991254"/>
            <a:ext cx="3152775" cy="1751542"/>
          </a:xfrm>
          <a:prstGeom prst="roundRect">
            <a:avLst>
              <a:gd name="adj" fmla="val 2158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A9F540-42E7-4FE8-BAE4-43841FAE2772}"/>
              </a:ext>
            </a:extLst>
          </p:cNvPr>
          <p:cNvSpPr>
            <a:spLocks noGrp="1"/>
          </p:cNvSpPr>
          <p:nvPr/>
        </p:nvSpPr>
        <p:spPr>
          <a:xfrm>
            <a:off x="4486275" y="4248150"/>
            <a:ext cx="3076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Licit transactions show a slightly higher average degree in this dataset.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91D172-37C7-435C-A7ED-15158E2F82A2}"/>
              </a:ext>
            </a:extLst>
          </p:cNvPr>
          <p:cNvSpPr>
            <a:spLocks noGrp="1"/>
          </p:cNvSpPr>
          <p:nvPr/>
        </p:nvSpPr>
        <p:spPr>
          <a:xfrm>
            <a:off x="8058150" y="1428750"/>
            <a:ext cx="3381375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72450" y="2210197"/>
            <a:ext cx="3152775" cy="1313656"/>
          </a:xfrm>
          <a:prstGeom prst="roundRect">
            <a:avLst>
              <a:gd name="adj" fmla="val 2158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3C4FD6-B48C-41A0-8B2D-A05A9409F127}"/>
              </a:ext>
            </a:extLst>
          </p:cNvPr>
          <p:cNvSpPr>
            <a:spLocks noGrp="1"/>
          </p:cNvSpPr>
          <p:nvPr/>
        </p:nvSpPr>
        <p:spPr>
          <a:xfrm>
            <a:off x="8210550" y="4248150"/>
            <a:ext cx="3076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Connectivity intensity shifts over time.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D9D024-0996-4ECF-9A12-D45915216487}"/>
              </a:ext>
            </a:extLst>
          </p:cNvPr>
          <p:cNvSpPr>
            <a:spLocks noGrp="1"/>
          </p:cNvSpPr>
          <p:nvPr/>
        </p:nvSpPr>
        <p:spPr>
          <a:xfrm>
            <a:off x="1485900" y="4914900"/>
            <a:ext cx="2190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DF2E1-8087-46DE-8F32-69BCB787C420}"/>
              </a:ext>
            </a:extLst>
          </p:cNvPr>
          <p:cNvSpPr>
            <a:spLocks noGrp="1"/>
          </p:cNvSpPr>
          <p:nvPr/>
        </p:nvSpPr>
        <p:spPr>
          <a:xfrm>
            <a:off x="1676400" y="50863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68CD1-7149-4AE0-808D-5D6438F77F0B}"/>
              </a:ext>
            </a:extLst>
          </p:cNvPr>
          <p:cNvSpPr>
            <a:spLocks noGrp="1"/>
          </p:cNvSpPr>
          <p:nvPr/>
        </p:nvSpPr>
        <p:spPr>
          <a:xfrm>
            <a:off x="1676400" y="5562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median degree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B3330-5A97-41AA-920D-02ACA5E7C0DB}"/>
              </a:ext>
            </a:extLst>
          </p:cNvPr>
          <p:cNvSpPr>
            <a:spLocks noGrp="1"/>
          </p:cNvSpPr>
          <p:nvPr/>
        </p:nvSpPr>
        <p:spPr>
          <a:xfrm>
            <a:off x="1676400" y="57912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typical transaction connectivity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C604A05-7321-4960-861E-7178EA66440B}"/>
              </a:ext>
            </a:extLst>
          </p:cNvPr>
          <p:cNvSpPr>
            <a:spLocks noGrp="1"/>
          </p:cNvSpPr>
          <p:nvPr/>
        </p:nvSpPr>
        <p:spPr>
          <a:xfrm>
            <a:off x="5010150" y="4914900"/>
            <a:ext cx="2190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2B4D8-8D4D-46BA-9944-5910038CBCB7}"/>
              </a:ext>
            </a:extLst>
          </p:cNvPr>
          <p:cNvSpPr>
            <a:spLocks noGrp="1"/>
          </p:cNvSpPr>
          <p:nvPr/>
        </p:nvSpPr>
        <p:spPr>
          <a:xfrm>
            <a:off x="5200650" y="50863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D9BE3A-9192-4676-9CE3-17E61C81406C}"/>
              </a:ext>
            </a:extLst>
          </p:cNvPr>
          <p:cNvSpPr>
            <a:spLocks noGrp="1"/>
          </p:cNvSpPr>
          <p:nvPr/>
        </p:nvSpPr>
        <p:spPr>
          <a:xfrm>
            <a:off x="5200650" y="5562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99th percentile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682EC0-DFAD-4D9D-88E3-53B40D52E4D1}"/>
              </a:ext>
            </a:extLst>
          </p:cNvPr>
          <p:cNvSpPr>
            <a:spLocks noGrp="1"/>
          </p:cNvSpPr>
          <p:nvPr/>
        </p:nvSpPr>
        <p:spPr>
          <a:xfrm>
            <a:off x="5200650" y="57912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upper-tail degree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0C8770-16BA-4579-BAD8-0DD38C8E2CC0}"/>
              </a:ext>
            </a:extLst>
          </p:cNvPr>
          <p:cNvSpPr>
            <a:spLocks noGrp="1"/>
          </p:cNvSpPr>
          <p:nvPr/>
        </p:nvSpPr>
        <p:spPr>
          <a:xfrm>
            <a:off x="8534400" y="4914900"/>
            <a:ext cx="2190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4E8AE2-1F6D-4559-B213-3A05C3E671E0}"/>
              </a:ext>
            </a:extLst>
          </p:cNvPr>
          <p:cNvSpPr>
            <a:spLocks noGrp="1"/>
          </p:cNvSpPr>
          <p:nvPr/>
        </p:nvSpPr>
        <p:spPr>
          <a:xfrm>
            <a:off x="8724900" y="50863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473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C0EA70-E0AD-4F18-8247-CD51AACAF5B0}"/>
              </a:ext>
            </a:extLst>
          </p:cNvPr>
          <p:cNvSpPr>
            <a:spLocks noGrp="1"/>
          </p:cNvSpPr>
          <p:nvPr/>
        </p:nvSpPr>
        <p:spPr>
          <a:xfrm>
            <a:off x="8724900" y="5562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max degree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92347A-1B29-46B6-AEFD-CED436F70E8C}"/>
              </a:ext>
            </a:extLst>
          </p:cNvPr>
          <p:cNvSpPr>
            <a:spLocks noGrp="1"/>
          </p:cNvSpPr>
          <p:nvPr/>
        </p:nvSpPr>
        <p:spPr>
          <a:xfrm>
            <a:off x="8724900" y="57912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largest observed hub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9969D7-3013-4B42-8065-1B1D7EDDE4A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project graph EDA figures and dataset-derived degree statistics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B6D67B-8DA3-4E58-9C87-F151395DE76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743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28DB44-270D-4838-B49E-EEE6634F29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WHY TIME-AWARE VALIDATION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F34AF4-AAF2-4998-882B-A14A47FC19E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Temporal Dynamics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94152-3211-4F26-9C54-25F1B5D0E67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BFB537-E9C6-427A-AF4E-11D81EAE0BF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143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6810" y="1543050"/>
            <a:ext cx="4069080" cy="1695450"/>
          </a:xfrm>
          <a:prstGeom prst="roundRect">
            <a:avLst>
              <a:gd name="adj" fmla="val 337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AFE034-AF33-4FB5-9F17-40D53DC8F86A}"/>
              </a:ext>
            </a:extLst>
          </p:cNvPr>
          <p:cNvSpPr>
            <a:spLocks noGrp="1"/>
          </p:cNvSpPr>
          <p:nvPr/>
        </p:nvSpPr>
        <p:spPr>
          <a:xfrm>
            <a:off x="762000" y="32956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Transaction volume varies sharply across the 49 timesteps.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F80B5CA-3075-4EB7-8E86-2993E0F7C1F2}"/>
              </a:ext>
            </a:extLst>
          </p:cNvPr>
          <p:cNvSpPr>
            <a:spLocks noGrp="1"/>
          </p:cNvSpPr>
          <p:nvPr/>
        </p:nvSpPr>
        <p:spPr>
          <a:xfrm>
            <a:off x="6076950" y="1428750"/>
            <a:ext cx="5143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53250" y="1543050"/>
            <a:ext cx="3390900" cy="1695450"/>
          </a:xfrm>
          <a:prstGeom prst="roundRect">
            <a:avLst>
              <a:gd name="adj" fmla="val 3371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466792-950E-4A75-A1AA-829C83810C20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Labeled class counts shift over time, especially for unknown labels.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685D3F-9C04-44B8-B460-3432743351A4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1435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138363" y="4019550"/>
            <a:ext cx="2085975" cy="1390650"/>
          </a:xfrm>
          <a:prstGeom prst="roundRect">
            <a:avLst>
              <a:gd name="adj" fmla="val 411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9B1E35-A2B5-4AD6-9AD2-511D1FE87083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Nodes and edges rise and fall together, but not perfectly.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66F7ACC-6881-49B6-B4D5-BDA2E87FEEB3}"/>
              </a:ext>
            </a:extLst>
          </p:cNvPr>
          <p:cNvSpPr>
            <a:spLocks noGrp="1"/>
          </p:cNvSpPr>
          <p:nvPr/>
        </p:nvSpPr>
        <p:spPr>
          <a:xfrm>
            <a:off x="6076950" y="3905250"/>
            <a:ext cx="51435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A298C5-FCE9-43E2-ADF0-906AC6265264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Implication for modeling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00127B-8380-4C54-A3C1-5218126D70AA}"/>
              </a:ext>
            </a:extLst>
          </p:cNvPr>
          <p:cNvSpPr>
            <a:spLocks noGrp="1"/>
          </p:cNvSpPr>
          <p:nvPr/>
        </p:nvSpPr>
        <p:spPr>
          <a:xfrm>
            <a:off x="6419850" y="4714875"/>
            <a:ext cx="76200" cy="762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80BB7-A365-4138-AAFC-5B792212B1A9}"/>
              </a:ext>
            </a:extLst>
          </p:cNvPr>
          <p:cNvSpPr>
            <a:spLocks noGrp="1"/>
          </p:cNvSpPr>
          <p:nvPr/>
        </p:nvSpPr>
        <p:spPr>
          <a:xfrm>
            <a:off x="6591300" y="46482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Random splits would leak future distribution patterns into training.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25A3AE7-EBA5-4AB4-940A-F72D04557EEF}"/>
              </a:ext>
            </a:extLst>
          </p:cNvPr>
          <p:cNvSpPr>
            <a:spLocks noGrp="1"/>
          </p:cNvSpPr>
          <p:nvPr/>
        </p:nvSpPr>
        <p:spPr>
          <a:xfrm>
            <a:off x="6419850" y="5286375"/>
            <a:ext cx="76200" cy="76200"/>
          </a:xfrm>
          <a:prstGeom prst="ellipse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C7FBDA-C46E-45F8-A33E-B4957E74209D}"/>
              </a:ext>
            </a:extLst>
          </p:cNvPr>
          <p:cNvSpPr>
            <a:spLocks noGrp="1"/>
          </p:cNvSpPr>
          <p:nvPr/>
        </p:nvSpPr>
        <p:spPr>
          <a:xfrm>
            <a:off x="6591300" y="52197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Validation thresholds should be selected on past data before scoring future timesteps.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28DA2-E32D-40B6-9EFB-E84A15931A1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project EDA figures and temporal split design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506DBD-CA32-418E-8A8C-F13FB5F458A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29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8AA4C8E-4D83-423D-AD4B-9902D6998BA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TEMPORAL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BC586-629D-41A3-8CF0-BA633ED11BE2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Overall Test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C2706-F33F-4FA5-AD3B-511F993C1E3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E5B733-FD99-40E7-AA8A-B4241AFFF81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43434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3D253-E7C8-4561-BA35-3F4A1D44AC5C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A3C52-88A1-44E9-8D74-5E742DEC515C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XGBoost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43DDC-626A-4FB1-BB4F-AA20916ED8A6}"/>
              </a:ext>
            </a:extLst>
          </p:cNvPr>
          <p:cNvSpPr>
            <a:spLocks noGrp="1"/>
          </p:cNvSpPr>
          <p:nvPr/>
        </p:nvSpPr>
        <p:spPr>
          <a:xfrm>
            <a:off x="933450" y="27813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trained on all available transaction features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E6B3A7-B604-43BC-965E-C5E7921F2E23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396C0A-E630-4A98-B33C-00238A560901}"/>
              </a:ext>
            </a:extLst>
          </p:cNvPr>
          <p:cNvSpPr>
            <a:spLocks noGrp="1"/>
          </p:cNvSpPr>
          <p:nvPr/>
        </p:nvSpPr>
        <p:spPr>
          <a:xfrm>
            <a:off x="1104900" y="35242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0.776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8544D-6A6E-4258-B42F-0FE3D5F25302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F1 illicit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7AF724-EF57-4C5F-B2A2-3F7E00E4F3C2}"/>
              </a:ext>
            </a:extLst>
          </p:cNvPr>
          <p:cNvSpPr>
            <a:spLocks noGrp="1"/>
          </p:cNvSpPr>
          <p:nvPr/>
        </p:nvSpPr>
        <p:spPr>
          <a:xfrm>
            <a:off x="1104900" y="42291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main selection metric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473E1D3-4D3C-4E2B-B7C1-725C3FF9B19A}"/>
              </a:ext>
            </a:extLst>
          </p:cNvPr>
          <p:cNvSpPr>
            <a:spLocks noGrp="1"/>
          </p:cNvSpPr>
          <p:nvPr/>
        </p:nvSpPr>
        <p:spPr>
          <a:xfrm>
            <a:off x="2724150" y="3352800"/>
            <a:ext cx="1619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0F3827-58B7-4384-A5A9-48CD46512F80}"/>
              </a:ext>
            </a:extLst>
          </p:cNvPr>
          <p:cNvSpPr>
            <a:spLocks noGrp="1"/>
          </p:cNvSpPr>
          <p:nvPr/>
        </p:nvSpPr>
        <p:spPr>
          <a:xfrm>
            <a:off x="2914650" y="35242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0.748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792916-3A1C-43FD-9605-11D63120049A}"/>
              </a:ext>
            </a:extLst>
          </p:cNvPr>
          <p:cNvSpPr>
            <a:spLocks noGrp="1"/>
          </p:cNvSpPr>
          <p:nvPr/>
        </p:nvSpPr>
        <p:spPr>
          <a:xfrm>
            <a:off x="2914650" y="40005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 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D32F2-CE66-4A1A-A38B-94028D77229B}"/>
              </a:ext>
            </a:extLst>
          </p:cNvPr>
          <p:cNvSpPr>
            <a:spLocks noGrp="1"/>
          </p:cNvSpPr>
          <p:nvPr/>
        </p:nvSpPr>
        <p:spPr>
          <a:xfrm>
            <a:off x="2914650" y="42291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minority-class ranking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E0D0B6C-514F-4A56-A2AC-F1698A3C0D83}"/>
              </a:ext>
            </a:extLst>
          </p:cNvPr>
          <p:cNvSpPr>
            <a:spLocks noGrp="1"/>
          </p:cNvSpPr>
          <p:nvPr/>
        </p:nvSpPr>
        <p:spPr>
          <a:xfrm>
            <a:off x="5353050" y="1466850"/>
            <a:ext cx="57150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22E91E-F6E2-4227-8416-EACABC3E3891}"/>
              </a:ext>
            </a:extLst>
          </p:cNvPr>
          <p:cNvSpPr>
            <a:spLocks noGrp="1"/>
          </p:cNvSpPr>
          <p:nvPr/>
        </p:nvSpPr>
        <p:spPr>
          <a:xfrm>
            <a:off x="5676900" y="17716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Thresholded detection quality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5B6BB4-A651-46E2-AEEA-F8768D298285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Precision 0.958  |  Recall 0.652  |  ROC AUC 0.907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478DB60-569C-4901-A6D2-D39D08D8936B}"/>
              </a:ext>
            </a:extLst>
          </p:cNvPr>
          <p:cNvSpPr>
            <a:spLocks noGrp="1"/>
          </p:cNvSpPr>
          <p:nvPr/>
        </p:nvSpPr>
        <p:spPr>
          <a:xfrm>
            <a:off x="5905500" y="2647950"/>
            <a:ext cx="1257300" cy="400050"/>
          </a:xfrm>
          <a:prstGeom prst="roundRect">
            <a:avLst>
              <a:gd name="adj" fmla="val 19048"/>
            </a:avLst>
          </a:prstGeom>
          <a:solidFill>
            <a:srgbClr val="EEF3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8B395-B097-49B8-B21E-EC006C55BBF3}"/>
              </a:ext>
            </a:extLst>
          </p:cNvPr>
          <p:cNvSpPr>
            <a:spLocks noGrp="1"/>
          </p:cNvSpPr>
          <p:nvPr/>
        </p:nvSpPr>
        <p:spPr>
          <a:xfrm>
            <a:off x="5981700" y="2762250"/>
            <a:ext cx="1104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EA4C6E-C636-4B45-BCD4-623EDF25EC5B}"/>
              </a:ext>
            </a:extLst>
          </p:cNvPr>
          <p:cNvSpPr>
            <a:spLocks noGrp="1"/>
          </p:cNvSpPr>
          <p:nvPr/>
        </p:nvSpPr>
        <p:spPr>
          <a:xfrm>
            <a:off x="7162800" y="264795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EEF3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F2CD8B-CD41-4D3B-BE79-3B1BD148ADC9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1276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Predicted licit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72C19DD-BA47-4B8C-8B4E-DED1D20C250B}"/>
              </a:ext>
            </a:extLst>
          </p:cNvPr>
          <p:cNvSpPr>
            <a:spLocks noGrp="1"/>
          </p:cNvSpPr>
          <p:nvPr/>
        </p:nvSpPr>
        <p:spPr>
          <a:xfrm>
            <a:off x="8591550" y="26479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EF3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08D3A0-6AAD-488E-8EB7-18F20E25078E}"/>
              </a:ext>
            </a:extLst>
          </p:cNvPr>
          <p:cNvSpPr>
            <a:spLocks noGrp="1"/>
          </p:cNvSpPr>
          <p:nvPr/>
        </p:nvSpPr>
        <p:spPr>
          <a:xfrm>
            <a:off x="8667750" y="27622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Predicted illicit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DE4EDC1-0971-4100-9563-DBB801F3698B}"/>
              </a:ext>
            </a:extLst>
          </p:cNvPr>
          <p:cNvSpPr>
            <a:spLocks noGrp="1"/>
          </p:cNvSpPr>
          <p:nvPr/>
        </p:nvSpPr>
        <p:spPr>
          <a:xfrm>
            <a:off x="5905500" y="304800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51C1BD-257E-425A-A232-6657C5913C86}"/>
              </a:ext>
            </a:extLst>
          </p:cNvPr>
          <p:cNvSpPr>
            <a:spLocks noGrp="1"/>
          </p:cNvSpPr>
          <p:nvPr/>
        </p:nvSpPr>
        <p:spPr>
          <a:xfrm>
            <a:off x="5981700" y="3162300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Actual licit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2537C48-0BD7-4106-9A51-54F9436BD9C6}"/>
              </a:ext>
            </a:extLst>
          </p:cNvPr>
          <p:cNvSpPr>
            <a:spLocks noGrp="1"/>
          </p:cNvSpPr>
          <p:nvPr/>
        </p:nvSpPr>
        <p:spPr>
          <a:xfrm>
            <a:off x="7162800" y="3048000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A8AEF6-7312-4347-AFCA-9F3B8F3655DC}"/>
              </a:ext>
            </a:extLst>
          </p:cNvPr>
          <p:cNvSpPr>
            <a:spLocks noGrp="1"/>
          </p:cNvSpPr>
          <p:nvPr/>
        </p:nvSpPr>
        <p:spPr>
          <a:xfrm>
            <a:off x="7239000" y="3162300"/>
            <a:ext cx="1276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12,728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DF0E8F1-6E20-4DD3-90EE-3BC38D402EF4}"/>
              </a:ext>
            </a:extLst>
          </p:cNvPr>
          <p:cNvSpPr>
            <a:spLocks noGrp="1"/>
          </p:cNvSpPr>
          <p:nvPr/>
        </p:nvSpPr>
        <p:spPr>
          <a:xfrm>
            <a:off x="8591550" y="3048000"/>
            <a:ext cx="1524000" cy="533400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B14E8A-7C82-471F-9D87-E442F3A1E705}"/>
              </a:ext>
            </a:extLst>
          </p:cNvPr>
          <p:cNvSpPr>
            <a:spLocks noGrp="1"/>
          </p:cNvSpPr>
          <p:nvPr/>
        </p:nvSpPr>
        <p:spPr>
          <a:xfrm>
            <a:off x="8667750" y="3162300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03AAF69-CB07-4322-8578-CC77B957984C}"/>
              </a:ext>
            </a:extLst>
          </p:cNvPr>
          <p:cNvSpPr>
            <a:spLocks noGrp="1"/>
          </p:cNvSpPr>
          <p:nvPr/>
        </p:nvSpPr>
        <p:spPr>
          <a:xfrm>
            <a:off x="5905500" y="3581400"/>
            <a:ext cx="1257300" cy="533400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78DC05-F7E6-4CF4-AEA8-906A9971790C}"/>
              </a:ext>
            </a:extLst>
          </p:cNvPr>
          <p:cNvSpPr>
            <a:spLocks noGrp="1"/>
          </p:cNvSpPr>
          <p:nvPr/>
        </p:nvSpPr>
        <p:spPr>
          <a:xfrm>
            <a:off x="5981700" y="3695700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Actual illicit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A8E2E12-3BD4-449A-A2AE-078DCE3AC937}"/>
              </a:ext>
            </a:extLst>
          </p:cNvPr>
          <p:cNvSpPr>
            <a:spLocks noGrp="1"/>
          </p:cNvSpPr>
          <p:nvPr/>
        </p:nvSpPr>
        <p:spPr>
          <a:xfrm>
            <a:off x="7162800" y="3581400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3C34CA-CD19-4C9E-A3F1-EE15F101323D}"/>
              </a:ext>
            </a:extLst>
          </p:cNvPr>
          <p:cNvSpPr>
            <a:spLocks noGrp="1"/>
          </p:cNvSpPr>
          <p:nvPr/>
        </p:nvSpPr>
        <p:spPr>
          <a:xfrm>
            <a:off x="7239000" y="3695700"/>
            <a:ext cx="1276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302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C631459-9FB1-4C8D-BBF8-689EE3DDC1A9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1524000" cy="533400"/>
          </a:xfrm>
          <a:prstGeom prst="roundRect">
            <a:avLst>
              <a:gd name="adj" fmla="val 14286"/>
            </a:avLst>
          </a:prstGeom>
          <a:solidFill>
            <a:srgbClr val="E6F4F1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7DF0E0-DBD9-42EF-9716-49989F200395}"/>
              </a:ext>
            </a:extLst>
          </p:cNvPr>
          <p:cNvSpPr>
            <a:spLocks noGrp="1"/>
          </p:cNvSpPr>
          <p:nvPr/>
        </p:nvSpPr>
        <p:spPr>
          <a:xfrm>
            <a:off x="8667750" y="3695700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566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0AD3A2-F9D0-47CA-9922-0CC05CC15CA4}"/>
              </a:ext>
            </a:extLst>
          </p:cNvPr>
          <p:cNvSpPr>
            <a:spLocks noGrp="1"/>
          </p:cNvSpPr>
          <p:nvPr/>
        </p:nvSpPr>
        <p:spPr>
          <a:xfrm>
            <a:off x="5905500" y="470535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At a validation-selected threshold of 0.84, the model correctly flags 566 illicit transactions while producing 25 false positives on the test set.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72A027-06D0-4890-A1D6-9C320C61D19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Source: notebooks/04_classic_models_results.ipynb, temporal 70-15-15 split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EE47CA-827C-4C81-A91F-EC2F3389656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406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79174F-2EEA-414D-A5CF-828B2E3919B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F1 FOR THE ILLICIT CLASS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37BAD-147B-4627-B84D-47A1C62696C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Model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6D841-4436-46AD-9B06-02F97EB06BA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CD84454-3448-4DD0-9D22-9A6EB72E470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23900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35" name="Chart"/>
          <p:cNvGraphicFramePr/>
          <p:nvPr/>
        </p:nvGraphicFramePr>
        <p:xfrm>
          <a:off x="895350" y="1752600"/>
          <a:ext cx="666750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A19331-1905-455F-990F-D2CDBA9B6D67}"/>
              </a:ext>
            </a:extLst>
          </p:cNvPr>
          <p:cNvSpPr>
            <a:spLocks noGrp="1"/>
          </p:cNvSpPr>
          <p:nvPr/>
        </p:nvSpPr>
        <p:spPr>
          <a:xfrm>
            <a:off x="8172450" y="1466850"/>
            <a:ext cx="3409950" cy="4324350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422ED1-D764-49B5-B4EC-B60369A1527C}"/>
              </a:ext>
            </a:extLst>
          </p:cNvPr>
          <p:cNvSpPr>
            <a:spLocks noGrp="1"/>
          </p:cNvSpPr>
          <p:nvPr/>
        </p:nvSpPr>
        <p:spPr>
          <a:xfrm>
            <a:off x="8477250" y="1752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Top model runs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70102E-74DF-4593-A4C5-CBF19C580EC6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0CF49-FEE5-480D-880D-A9C9666C82BA}"/>
              </a:ext>
            </a:extLst>
          </p:cNvPr>
          <p:cNvSpPr>
            <a:spLocks noGrp="1"/>
          </p:cNvSpPr>
          <p:nvPr/>
        </p:nvSpPr>
        <p:spPr>
          <a:xfrm>
            <a:off x="8839200" y="224790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5585C0-D42D-4A2E-84E1-CB73033F5F4A}"/>
              </a:ext>
            </a:extLst>
          </p:cNvPr>
          <p:cNvSpPr>
            <a:spLocks noGrp="1"/>
          </p:cNvSpPr>
          <p:nvPr/>
        </p:nvSpPr>
        <p:spPr>
          <a:xfrm>
            <a:off x="8839200" y="24765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25A924-DD6D-438B-B8FC-011C58BF1FFC}"/>
              </a:ext>
            </a:extLst>
          </p:cNvPr>
          <p:cNvSpPr>
            <a:spLocks noGrp="1"/>
          </p:cNvSpPr>
          <p:nvPr/>
        </p:nvSpPr>
        <p:spPr>
          <a:xfrm>
            <a:off x="10363200" y="228600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0.776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BC85C-D749-4E35-88CD-0188961F3AA8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4DCA4F-AF5F-4E16-BE5C-BC1FE13A0FF8}"/>
              </a:ext>
            </a:extLst>
          </p:cNvPr>
          <p:cNvSpPr>
            <a:spLocks noGrp="1"/>
          </p:cNvSpPr>
          <p:nvPr/>
        </p:nvSpPr>
        <p:spPr>
          <a:xfrm>
            <a:off x="8839200" y="283845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3D3907-4C8E-42D8-8F6D-705EFA270BCF}"/>
              </a:ext>
            </a:extLst>
          </p:cNvPr>
          <p:cNvSpPr>
            <a:spLocks noGrp="1"/>
          </p:cNvSpPr>
          <p:nvPr/>
        </p:nvSpPr>
        <p:spPr>
          <a:xfrm>
            <a:off x="8839200" y="30670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2B36D4-C542-48F6-A8B2-C0C099FFC557}"/>
              </a:ext>
            </a:extLst>
          </p:cNvPr>
          <p:cNvSpPr>
            <a:spLocks noGrp="1"/>
          </p:cNvSpPr>
          <p:nvPr/>
        </p:nvSpPr>
        <p:spPr>
          <a:xfrm>
            <a:off x="10363200" y="287655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0.767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DAE227-ECEF-4019-A7CE-BA5202235BAA}"/>
              </a:ext>
            </a:extLst>
          </p:cNvPr>
          <p:cNvSpPr>
            <a:spLocks noGrp="1"/>
          </p:cNvSpPr>
          <p:nvPr/>
        </p:nvSpPr>
        <p:spPr>
          <a:xfrm>
            <a:off x="8477250" y="34671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2AF920-D9DF-47E2-8433-34D0AA312D20}"/>
              </a:ext>
            </a:extLst>
          </p:cNvPr>
          <p:cNvSpPr>
            <a:spLocks noGrp="1"/>
          </p:cNvSpPr>
          <p:nvPr/>
        </p:nvSpPr>
        <p:spPr>
          <a:xfrm>
            <a:off x="8839200" y="342900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C92DF2-3CF8-41E4-BA66-BF9A9D5D89BF}"/>
              </a:ext>
            </a:extLst>
          </p:cNvPr>
          <p:cNvSpPr>
            <a:spLocks noGrp="1"/>
          </p:cNvSpPr>
          <p:nvPr/>
        </p:nvSpPr>
        <p:spPr>
          <a:xfrm>
            <a:off x="8839200" y="36576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A369D-685E-4B17-AEEC-C3E9510EE524}"/>
              </a:ext>
            </a:extLst>
          </p:cNvPr>
          <p:cNvSpPr>
            <a:spLocks noGrp="1"/>
          </p:cNvSpPr>
          <p:nvPr/>
        </p:nvSpPr>
        <p:spPr>
          <a:xfrm>
            <a:off x="10363200" y="346710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0.746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00EBF-F318-48FF-AF14-CFC30B2ADEB4}"/>
              </a:ext>
            </a:extLst>
          </p:cNvPr>
          <p:cNvSpPr>
            <a:spLocks noGrp="1"/>
          </p:cNvSpPr>
          <p:nvPr/>
        </p:nvSpPr>
        <p:spPr>
          <a:xfrm>
            <a:off x="8477250" y="40576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A4EFAF-7430-40BA-8FAE-B314A8B1381F}"/>
              </a:ext>
            </a:extLst>
          </p:cNvPr>
          <p:cNvSpPr>
            <a:spLocks noGrp="1"/>
          </p:cNvSpPr>
          <p:nvPr/>
        </p:nvSpPr>
        <p:spPr>
          <a:xfrm>
            <a:off x="8839200" y="401955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A86A7D-51B9-4AB7-9DB3-AA8D879CC7A8}"/>
              </a:ext>
            </a:extLst>
          </p:cNvPr>
          <p:cNvSpPr>
            <a:spLocks noGrp="1"/>
          </p:cNvSpPr>
          <p:nvPr/>
        </p:nvSpPr>
        <p:spPr>
          <a:xfrm>
            <a:off x="8839200" y="424815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DC9DFD-B1EF-4A89-8418-B89D34B875A0}"/>
              </a:ext>
            </a:extLst>
          </p:cNvPr>
          <p:cNvSpPr>
            <a:spLocks noGrp="1"/>
          </p:cNvSpPr>
          <p:nvPr/>
        </p:nvSpPr>
        <p:spPr>
          <a:xfrm>
            <a:off x="10363200" y="405765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0.736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A58EF6-C7E2-4811-AEB5-98535C631B76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369710-F37D-4D77-AB8A-1E9EB61492D0}"/>
              </a:ext>
            </a:extLst>
          </p:cNvPr>
          <p:cNvSpPr>
            <a:spLocks noGrp="1"/>
          </p:cNvSpPr>
          <p:nvPr/>
        </p:nvSpPr>
        <p:spPr>
          <a:xfrm>
            <a:off x="8839200" y="4610100"/>
            <a:ext cx="1504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8A2BF3-AED7-433B-BE22-000F55190678}"/>
              </a:ext>
            </a:extLst>
          </p:cNvPr>
          <p:cNvSpPr>
            <a:spLocks noGrp="1"/>
          </p:cNvSpPr>
          <p:nvPr/>
        </p:nvSpPr>
        <p:spPr>
          <a:xfrm>
            <a:off x="8839200" y="4838700"/>
            <a:ext cx="1466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+ GCN embeddings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160E44-9802-435E-BE91-7EBA2940D7EE}"/>
              </a:ext>
            </a:extLst>
          </p:cNvPr>
          <p:cNvSpPr>
            <a:spLocks noGrp="1"/>
          </p:cNvSpPr>
          <p:nvPr/>
        </p:nvSpPr>
        <p:spPr>
          <a:xfrm>
            <a:off x="10363200" y="464820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0.730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5D128D-BDE9-42DB-A8B4-7E3F4FC9249A}"/>
              </a:ext>
            </a:extLst>
          </p:cNvPr>
          <p:cNvSpPr>
            <a:spLocks noGrp="1"/>
          </p:cNvSpPr>
          <p:nvPr/>
        </p:nvSpPr>
        <p:spPr>
          <a:xfrm>
            <a:off x="8477250" y="52387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Full feature set + tree models performs best; GCN embeddings did not improve the strongest runs.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267C64-C01E-4537-B07F-77016321417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Source: notebooks/04_classic_models_results.ipynb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6C5489-98B2-4663-B15D-1A492145987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990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9C280F-F9E7-4B07-AD9F-F29744C3E01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NOTEBOOK RESULT PLOTS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8FBA52-F83C-430C-9AC6-35141EC7007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Additional Result Diagnostics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307473-0B3C-4F20-9A18-6AA9C4FBA7D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FB14C80-1ADA-4619-99DB-1BCB489443B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3352800" cy="43624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159345"/>
            <a:ext cx="3124200" cy="2634559"/>
          </a:xfrm>
          <a:prstGeom prst="roundRect">
            <a:avLst>
              <a:gd name="adj" fmla="val 1829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8B62B2-412B-4D65-A596-AE6E6606B19B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Radar view across precision, recall, F1, PR AUC, and ROC AUC.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5517EA-8780-4D45-8FF2-12CD0FED1277}"/>
              </a:ext>
            </a:extLst>
          </p:cNvPr>
          <p:cNvSpPr>
            <a:spLocks noGrp="1"/>
          </p:cNvSpPr>
          <p:nvPr/>
        </p:nvSpPr>
        <p:spPr>
          <a:xfrm>
            <a:off x="4305300" y="1428750"/>
            <a:ext cx="727710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27497" y="1543050"/>
            <a:ext cx="3632706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4C5CC2-6F9A-4903-AFE9-7E9BE107B4DB}"/>
              </a:ext>
            </a:extLst>
          </p:cNvPr>
          <p:cNvSpPr>
            <a:spLocks noGrp="1"/>
          </p:cNvSpPr>
          <p:nvPr/>
        </p:nvSpPr>
        <p:spPr>
          <a:xfrm>
            <a:off x="4457700" y="3143250"/>
            <a:ext cx="697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Static temporal test split: performance drops sharply after the marked event.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CADED0-6A79-42B9-8C9E-15A54C02CC35}"/>
              </a:ext>
            </a:extLst>
          </p:cNvPr>
          <p:cNvSpPr>
            <a:spLocks noGrp="1"/>
          </p:cNvSpPr>
          <p:nvPr/>
        </p:nvSpPr>
        <p:spPr>
          <a:xfrm>
            <a:off x="4305300" y="3752850"/>
            <a:ext cx="727710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78921" y="3867150"/>
            <a:ext cx="3329857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B6E5FA-C3DA-466B-B934-1252452404C6}"/>
              </a:ext>
            </a:extLst>
          </p:cNvPr>
          <p:cNvSpPr>
            <a:spLocks noGrp="1"/>
          </p:cNvSpPr>
          <p:nvPr/>
        </p:nvSpPr>
        <p:spPr>
          <a:xfrm>
            <a:off x="4457700" y="5467350"/>
            <a:ext cx="697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Rolling-window adaptation recovers some later timesteps but remains volatile.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5A3BF-D3CA-4430-B666-CEE02A16DF9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PNG result plots saved in notebooks/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4A28B3-D938-4423-B4F2-3561A43590E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099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9A8C322-6164-4EF4-8E60-BEDCCD77958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PROJECT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135A0-C0E0-42E7-978C-D0C23564D7C8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7D314-3E70-4F9F-987A-8B1CF33714C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2870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B323BD-DD1B-4C2D-B32A-E623B0D07216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47625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34398-6EFC-4A19-951A-B38515729096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66675" cy="16002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D02D2-6AE8-4944-B59B-8CADDA9293FA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Tree models lead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D86126-AD1D-4084-B919-FF8A9A15FEEE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390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XGBoost and Random Forest give the strongest illicit-class F1 and PR AUC on the temporal test split.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B9D878-E98B-4DE7-AF0F-4DD8411AB7AA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47625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7DC45-240D-48B2-BF4A-6584E6BFD9C5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66675" cy="16002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484BB-E9A1-4AC8-A4CB-F06254905F13}"/>
              </a:ext>
            </a:extLst>
          </p:cNvPr>
          <p:cNvSpPr>
            <a:spLocks noGrp="1"/>
          </p:cNvSpPr>
          <p:nvPr/>
        </p:nvSpPr>
        <p:spPr>
          <a:xfrm>
            <a:off x="6686550" y="19431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Full features matter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3A7EB-3D92-42FB-A4AA-99393973D029}"/>
              </a:ext>
            </a:extLst>
          </p:cNvPr>
          <p:cNvSpPr>
            <a:spLocks noGrp="1"/>
          </p:cNvSpPr>
          <p:nvPr/>
        </p:nvSpPr>
        <p:spPr>
          <a:xfrm>
            <a:off x="6686550" y="2381250"/>
            <a:ext cx="390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best run uses all anonymized features plus time step, outperforming local-only and embedding-augmented variants.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8FCA2E-BEF8-4DA2-94B4-A04BD69CAE19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47625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E7414D-AF7C-4143-B635-9D1DFBF4172E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66675" cy="1600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D079D-DB1C-4095-A297-E55EBEC3F020}"/>
              </a:ext>
            </a:extLst>
          </p:cNvPr>
          <p:cNvSpPr>
            <a:spLocks noGrp="1"/>
          </p:cNvSpPr>
          <p:nvPr/>
        </p:nvSpPr>
        <p:spPr>
          <a:xfrm>
            <a:off x="1181100" y="41338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Imbalance is central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A408A-9277-4EA2-A4F0-F9291AA12BC1}"/>
              </a:ext>
            </a:extLst>
          </p:cNvPr>
          <p:cNvSpPr>
            <a:spLocks noGrp="1"/>
          </p:cNvSpPr>
          <p:nvPr/>
        </p:nvSpPr>
        <p:spPr>
          <a:xfrm>
            <a:off x="1181100" y="4572000"/>
            <a:ext cx="390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Illicit transactions are under 10% of labeled examples, making PR AUC and threshold selection more useful than accuracy.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5B1B827-1E83-4CC1-9ECD-255FBDD0577D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47625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E253D-FD2B-4F26-810D-4A9CCDCBAA80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66675" cy="1600200"/>
          </a:xfrm>
          <a:prstGeom prst="rect">
            <a:avLst/>
          </a:prstGeom>
          <a:solidFill>
            <a:srgbClr val="6D5BD0"/>
          </a:solidFill>
          <a:ln w="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171B5-6A30-425A-86F1-99B5B40F9736}"/>
              </a:ext>
            </a:extLst>
          </p:cNvPr>
          <p:cNvSpPr>
            <a:spLocks noGrp="1"/>
          </p:cNvSpPr>
          <p:nvPr/>
        </p:nvSpPr>
        <p:spPr>
          <a:xfrm>
            <a:off x="6686550" y="41338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Time drift remains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83B40-DDBA-4097-BF94-3BB53329A77E}"/>
              </a:ext>
            </a:extLst>
          </p:cNvPr>
          <p:cNvSpPr>
            <a:spLocks noGrp="1"/>
          </p:cNvSpPr>
          <p:nvPr/>
        </p:nvSpPr>
        <p:spPr>
          <a:xfrm>
            <a:off x="6686550" y="4572000"/>
            <a:ext cx="390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Temporal shifts in class mix and graph size suggest rolling-window evaluation and period-aware calibration as next steps.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28D972-74A7-4D81-B759-BA4174083B16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Recommended next experiment: rolling temporal retraining with calibrated model thresholds and graph-derived features added to the strongest tree-based baseline.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BD0B7C-BA97-4B7F-8D52-79CA9C045CC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7"/>
                </a:solidFill>
                <a:latin typeface="Aptos"/>
                <a:ea typeface="Aptos"/>
                <a:cs typeface="Aptos"/>
              </a:rPr>
              <a:t>Sources: Elliptic dataset, project notebooks and generated analysis figures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20C49C-AEDC-499A-9281-0C6E0A62FC2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C879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879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17816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707</Words>
  <Application>Microsoft Macintosh PowerPoint</Application>
  <DocSecurity>0</DocSecurity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Jakub Malczak</cp:lastModifiedBy>
  <cp:revision>2</cp:revision>
  <dcterms:created xsi:type="dcterms:W3CDTF">2026-06-15T23:44:57Z</dcterms:created>
  <dcterms:modified xsi:type="dcterms:W3CDTF">2026-06-16T13:09:44Z</dcterms:modified>
</cp:coreProperties>
</file>